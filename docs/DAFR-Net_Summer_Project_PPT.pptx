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577" r:id="rId2"/>
    <p:sldId id="578" r:id="rId3"/>
    <p:sldId id="579" r:id="rId4"/>
    <p:sldId id="591" r:id="rId21"/>
    <p:sldId id="580" r:id="rId5"/>
    <p:sldId id="581" r:id="rId6"/>
    <p:sldId id="582" r:id="rId7"/>
    <p:sldId id="583" r:id="rId8"/>
    <p:sldId id="584" r:id="rId9"/>
    <p:sldId id="585" r:id="rId10"/>
    <p:sldId id="586" r:id="rId11"/>
    <p:sldId id="587" r:id="rId12"/>
    <p:sldId id="588" r:id="rId13"/>
    <p:sldId id="589" r:id="rId14"/>
    <p:sldId id="59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B82AB-C56E-4A8C-846D-3B81FFF497F1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FBE9B-31DE-4C0B-BCDC-CA78ED81FE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899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0FBE9B-31DE-4C0B-BCDC-CA78ED81FE8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329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099A-BD05-41E1-8D9E-65136680FE64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87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6405-C218-438A-B64E-4C5F4BF86AB8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3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AA716-7AF8-4529-84ED-B5AE7D3C3EB8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23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E8865-91ED-4C6C-A072-4A27CC93B124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193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9440A-A4E1-4EC1-B015-49E3D10FA521}" type="datetime1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0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BA038-C11E-4AE1-80F6-027166E6D239}" type="datetime1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03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BB651-4BFC-4537-ADA9-1C5172DD3907}" type="datetime1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86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F906B-5B76-4CA1-8EC3-8BE1E79F1D9F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177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897B-4B8E-4D92-BCA4-031A1E49D7A5}" type="datetime1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96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2368-0839-4CD0-8455-838B913C2F03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0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7959-7680-4606-8B68-0A1C020C46C4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65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9F323-FECE-4490-AFD6-9EBA3AAD86ED}" type="datetime1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Hariharan. P-DPFI0322021652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4D8A9-2A29-478B-937F-28DD9C9838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23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5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6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4080387"/>
          </a:xfrm>
          <a:solidFill>
            <a:srgbClr val="002060"/>
          </a:solidFill>
          <a:ln>
            <a:solidFill>
              <a:srgbClr val="0070C0"/>
            </a:solidFill>
          </a:ln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</a:pPr>
            <a:br>
              <a:rPr lang="en-US" sz="3733" b="1" dirty="0">
                <a:solidFill>
                  <a:schemeClr val="bg1"/>
                </a:solidFill>
                <a:latin typeface="Bahnschrift Light Condensed" pitchFamily="34" charset="0"/>
                <a:cs typeface="Times New Roman" pitchFamily="18" charset="0"/>
              </a:rPr>
            </a:br>
            <a:r>
              <a:rPr lang="en-US" sz="3733" b="1" dirty="0">
                <a:solidFill>
                  <a:schemeClr val="bg1"/>
                </a:solidFill>
                <a:latin typeface="Bahnschrift Light Condensed" pitchFamily="34" charset="0"/>
                <a:cs typeface="Times New Roman" pitchFamily="18" charset="0"/>
              </a:rPr>
              <a:t> </a:t>
            </a:r>
            <a:br>
              <a:rPr lang="en-US" sz="3733" b="1" dirty="0">
                <a:solidFill>
                  <a:schemeClr val="bg1"/>
                </a:solidFill>
                <a:latin typeface="Bahnschrift Light Condensed" pitchFamily="34" charset="0"/>
                <a:cs typeface="Times New Roman" pitchFamily="18" charset="0"/>
              </a:rPr>
            </a:br>
            <a:br>
              <a:rPr lang="en-US" sz="3733" b="1" dirty="0">
                <a:solidFill>
                  <a:schemeClr val="bg1"/>
                </a:solidFill>
                <a:latin typeface="Bahnschrift Light Condensed" pitchFamily="34" charset="0"/>
                <a:cs typeface="Times New Roman" pitchFamily="18" charset="0"/>
              </a:rPr>
            </a:br>
            <a:r>
              <a:rPr lang="en-IN" sz="3600" b="1" dirty="0">
                <a:solidFill>
                  <a:schemeClr val="bg1"/>
                </a:solidFill>
                <a:cs typeface="Times New Roman" pitchFamily="18" charset="0"/>
              </a:rPr>
              <a:t>DAFR-Net: A Damage-Aware Frequency-Guided Dual-Branch Network for Ancient Mural Restoration</a:t>
            </a:r>
            <a:br>
              <a:rPr lang="en-IN" sz="3733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1867" b="1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Summer Research Project 2024–25 – </a:t>
            </a:r>
            <a:br>
              <a:rPr lang="en-US" sz="1867" b="1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867" b="1" dirty="0">
                <a:solidFill>
                  <a:schemeClr val="bg2"/>
                </a:solidFill>
                <a:latin typeface="+mn-lt"/>
                <a:cs typeface="Arial" panose="020B0604020202020204" pitchFamily="34" charset="0"/>
              </a:rPr>
              <a:t>Phase 1: Core Restoration Pipeline — Trained &amp; Deployed</a:t>
            </a:r>
            <a:br>
              <a:rPr lang="en-US" sz="1333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333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of Computer Science and Engineering</a:t>
            </a:r>
            <a:br>
              <a:rPr lang="en-US" sz="1333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733" b="1" dirty="0">
              <a:solidFill>
                <a:schemeClr val="bg1"/>
              </a:solidFill>
              <a:latin typeface="Arial Narrow" panose="020B0606020202030204" pitchFamily="34" charset="0"/>
              <a:cs typeface="Times New Roman" pitchFamily="18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fld id="{FD5AEBC8-6147-437A-A60A-00667AA2CE19}" type="datetime1">
              <a:rPr lang="en-IN" sz="1333">
                <a:solidFill>
                  <a:srgbClr val="002060"/>
                </a:solidFill>
                <a:latin typeface="Calibri"/>
              </a:rPr>
              <a:pPr defTabSz="1219170"/>
              <a:t>16-07-2026</a:t>
            </a:fld>
            <a:endParaRPr lang="en-IN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srgbClr val="002060"/>
                </a:solidFill>
                <a:latin typeface="Calibri"/>
              </a:rPr>
              <a:pPr defTabSz="1219170"/>
              <a:t>1</a:t>
            </a:fld>
            <a:endParaRPr lang="en-IN" sz="1333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0" name="Subtitle 2"/>
          <p:cNvSpPr txBox="1">
            <a:spLocks/>
          </p:cNvSpPr>
          <p:nvPr/>
        </p:nvSpPr>
        <p:spPr>
          <a:xfrm>
            <a:off x="911424" y="4268688"/>
            <a:ext cx="4555232" cy="17526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9170"/>
            <a:endParaRPr lang="en-IN" sz="4267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872105" y="4572609"/>
            <a:ext cx="6096000" cy="189827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pPr defTabSz="1219170"/>
            <a:r>
              <a:rPr lang="en-US" sz="1867" i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By</a:t>
            </a:r>
          </a:p>
          <a:p>
            <a:pPr defTabSz="1219170"/>
            <a:r>
              <a:rPr lang="en-US" sz="2400" b="1" dirty="0">
                <a:solidFill>
                  <a:srgbClr val="002060"/>
                </a:solidFill>
                <a:latin typeface="Calibri"/>
              </a:rPr>
              <a:t>K Anirudh &amp; S Harish Siddharth</a:t>
            </a:r>
            <a:r>
              <a:rPr lang="en-US" sz="1867" dirty="0">
                <a:solidFill>
                  <a:srgbClr val="002060"/>
                </a:solidFill>
                <a:latin typeface="Calibri"/>
              </a:rPr>
              <a:t>, </a:t>
            </a:r>
            <a:endParaRPr lang="en-US" sz="1867" b="1" dirty="0">
              <a:solidFill>
                <a:srgbClr val="002060"/>
              </a:solidFill>
              <a:latin typeface="Calibri"/>
            </a:endParaRP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M. Tech Artificial Intelligence and Data science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Department of Computer Science and Engineering,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School of Computing,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SASTRA Deemed University ,Thanjavur,TN,India.</a:t>
            </a:r>
            <a:endParaRPr lang="en-IN" sz="1867" dirty="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510112" y="4582448"/>
            <a:ext cx="5184576" cy="189827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defTabSz="1219170"/>
            <a:r>
              <a:rPr lang="en-US" sz="1867" i="1" dirty="0">
                <a:solidFill>
                  <a:prstClr val="black">
                    <a:lumMod val="50000"/>
                    <a:lumOff val="50000"/>
                  </a:prstClr>
                </a:solidFill>
                <a:latin typeface="Calibri"/>
              </a:rPr>
              <a:t>Under the guidance of</a:t>
            </a:r>
          </a:p>
          <a:p>
            <a:pPr defTabSz="1219170"/>
            <a:r>
              <a:rPr lang="en-US" sz="2400" b="1" dirty="0">
                <a:solidFill>
                  <a:srgbClr val="002060"/>
                </a:solidFill>
                <a:latin typeface="Calibri"/>
              </a:rPr>
              <a:t>Dr. </a:t>
            </a:r>
            <a:r>
              <a:rPr lang="en-US" sz="2400" b="1" dirty="0" err="1">
                <a:solidFill>
                  <a:srgbClr val="002060"/>
                </a:solidFill>
                <a:latin typeface="Calibri"/>
              </a:rPr>
              <a:t>N.Sasikaladevi</a:t>
            </a:r>
            <a:endParaRPr lang="en-US" sz="2400" b="1" dirty="0">
              <a:solidFill>
                <a:srgbClr val="002060"/>
              </a:solidFill>
              <a:latin typeface="Calibri"/>
            </a:endParaRP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Associate Professor,  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Department of Computer Science and Engineering,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School of Computing,</a:t>
            </a:r>
          </a:p>
          <a:p>
            <a:pPr defTabSz="1219170"/>
            <a:r>
              <a:rPr lang="en-US" sz="1867" dirty="0">
                <a:solidFill>
                  <a:srgbClr val="002060"/>
                </a:solidFill>
                <a:latin typeface="Calibri"/>
              </a:rPr>
              <a:t>SASTRA Deemed University,Thanjavur,TN,India.</a:t>
            </a:r>
            <a:endParaRPr lang="en-IN" sz="1867" dirty="0">
              <a:solidFill>
                <a:srgbClr val="002060"/>
              </a:solidFill>
              <a:latin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5A6EE-66F4-1518-4625-C918C44C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40" y="-2753"/>
            <a:ext cx="3949700" cy="1041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fld id="{E2CD4A94-0309-4AE3-A3F6-A5C23F6EA10A}" type="datetime1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16-07-2026</a:t>
            </a:fld>
            <a:endParaRPr lang="en-IN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2</a:t>
            </a:fld>
            <a:endParaRPr lang="en-IN" sz="1333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59804" y="773377"/>
            <a:ext cx="5824267" cy="4585495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Problem Statement &amp; Motivation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Objectives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cs typeface="Times New Roman" panose="02020603050405020304" pitchFamily="18" charset="0"/>
              </a:rPr>
              <a:t>Dataset — MuralDH Benchmark</a:t>
            </a:r>
            <a:endParaRPr lang="en-US" altLang="en-US" sz="2400" b="1" dirty="0">
              <a:solidFill>
                <a:schemeClr val="tx2"/>
              </a:solidFill>
              <a:latin typeface="Calibri"/>
              <a:cs typeface="Times New Roman" panose="02020603050405020304" pitchFamily="18" charset="0"/>
            </a:endParaRP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System Architecture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Key Novelties</a:t>
            </a:r>
            <a:endParaRPr lang="en-US" altLang="en-US" sz="2400" b="1" dirty="0">
              <a:solidFill>
                <a:schemeClr val="tx2"/>
              </a:solidFill>
              <a:latin typeface="Calibri"/>
              <a:cs typeface="Times New Roman" panose="02020603050405020304" pitchFamily="18" charset="0"/>
            </a:endParaRP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Implementation &amp; Training Setup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Results</a:t>
            </a:r>
            <a:endParaRPr lang="en-US" sz="2400" b="1" dirty="0">
              <a:solidFill>
                <a:prstClr val="black"/>
              </a:solidFill>
              <a:latin typeface="Calibri"/>
              <a:cs typeface="Times New Roman" pitchFamily="18" charset="0"/>
            </a:endParaRP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Merits &amp; Limitations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Comparison with Existing Work</a:t>
            </a:r>
          </a:p>
          <a:p>
            <a:pPr marL="914377" indent="-457189" algn="just" defTabSz="1219170" fontAlgn="base">
              <a:lnSpc>
                <a:spcPct val="90000"/>
              </a:lnSpc>
              <a:spcBef>
                <a:spcPts val="1333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400" b="1" dirty="0">
                <a:solidFill>
                  <a:schemeClr val="tx2"/>
                </a:solidFill>
                <a:latin typeface="Calibri"/>
                <a:cs typeface="Times New Roman" panose="02020603050405020304" pitchFamily="18" charset="0"/>
              </a:rPr>
              <a:t>Conclusion &amp; Future Work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0" y="164637"/>
            <a:ext cx="12192000" cy="505412"/>
            <a:chOff x="0" y="123478"/>
            <a:chExt cx="9144000" cy="379059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0" y="123478"/>
              <a:ext cx="2267744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39552" y="483518"/>
              <a:ext cx="8604448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58597" y="125462"/>
              <a:ext cx="4104456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Agenda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9D42AC7-9197-7B90-1D5C-66BF57A0B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40" y="-2754"/>
            <a:ext cx="3949700" cy="740169"/>
          </a:xfrm>
          <a:prstGeom prst="rect">
            <a:avLst/>
          </a:prstGeom>
        </p:spPr>
      </p:pic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998EC888-1EC6-4C0A-93C1-DDBE8E84F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1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3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Why Damage-Aware, Frequency-Guided Restoration?</a:t>
            </a:r>
          </a:p>
          <a:p>
            <a:pPr defTabSz="1219170">
              <a:spcBef>
                <a:spcPts val="600"/>
              </a:spcBef>
            </a:pPr>
            <a:endParaRPr lang="en-US" sz="2400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Ancient murals degrade through cracks, fading, and missing (spalled) regions — each with distinct visual statistics.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Manual restoration is slow, expensive, and depends on rare conservator expertise.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Generic deep inpainting (GANs / diffusion) treats all damage types identically and relies only on spatial cues, ignoring frequency-domain degradation patterns.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Goal: classify damage first, then restore it using both structural and frequency information, jointly fused.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Problem Statement &amp; Motivation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A9A786D4-D227-4E6A-AEBA-5CF96AFB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4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Project Objectives</a:t>
            </a:r>
          </a:p>
          <a:p>
            <a:pPr defTabSz="1219170">
              <a:spcBef>
                <a:spcPts val="600"/>
              </a:spcBef>
            </a:pPr>
            <a:endParaRPr lang="en-US" sz="2400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Classify mural damage into crack / fade / missing before restoration.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Design a dual-branch encoder that jointly learns structural (Swin Transformer) and frequency-domain (FFT) features.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Fuse both branches with cross-attention and decode to a restored image via a UNet inpainting head.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Train and validate end-to-end on the MuralDH benchmark dataset.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Serve the trained pipeline through a REST API for real-time demonstration.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Objectives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B24C59E8-0051-4DA5-81A0-B24DB0E1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5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MuralDH: Public Mural Damage Benchmark</a:t>
            </a:r>
          </a:p>
          <a:p>
            <a:pPr defTabSz="1219170">
              <a:spcBef>
                <a:spcPts val="600"/>
              </a:spcBef>
            </a:pPr>
            <a:endParaRPr lang="en-US" sz="2400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Source: MuralDH (tearsheaven/MuralDH), DOI 10.5061/dryad.bnzs7h4jd.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Mural_seg/: 760 train + 201 test annotated image-mask pairs (512x512, binary damage masks).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Mural512/: 5,096 unannotated high-resolution crops used for self-supervised pretraining.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Mural_SR/: 512 HR/LR pairs reserved for the Phase 2 super-resolution head.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All images resized to 256x256; damage labels (crack/fade/missing) generated via heuristic mask analysis.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Dataset — MuralDH Benchmark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0DD0211F-8BC1-4035-9A2A-7E1E45585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6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12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End-to-End Pipeline: Classify -&gt; Fuse -&gt; Restore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Three independently-ablatable stages: damage classification, dual-branch feature fusion, UNet-based restoration.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System Architecture</a:t>
              </a:r>
            </a:p>
          </p:txBody>
        </p:sp>
      </p:grpSp>
      <p:pic>
        <p:nvPicPr>
          <p:cNvPr id="25" name="Picture 24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53" y="1383706"/>
            <a:ext cx="10902673" cy="5098157"/>
          </a:xfrm>
          <a:prstGeom prst="rect">
            <a:avLst/>
          </a:prstGeom>
        </p:spPr>
      </p:pic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2D7F36A1-F588-4577-B4E7-2CB750B04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7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02766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What DAFR-Net Adds Over Prior </a:t>
            </a:r>
            <a:r>
              <a:rPr lang="en-US" sz="1867" b="1" dirty="0">
                <a:solidFill>
                  <a:srgbClr val="002060"/>
                </a:solidFill>
                <a:latin typeface="Calibri"/>
              </a:rPr>
              <a:t>Work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Key Novelties</a:t>
              </a:r>
            </a:p>
          </p:txBody>
        </p:sp>
      </p:grpSp>
      <p:pic>
        <p:nvPicPr>
          <p:cNvPr id="25" name="Picture 24" descr="noveltie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04" y="860493"/>
            <a:ext cx="11701991" cy="4765083"/>
          </a:xfrm>
          <a:prstGeom prst="rect">
            <a:avLst/>
          </a:prstGeom>
        </p:spPr>
      </p:pic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3D6D21BC-D6D5-4F98-AF04-F13AA1E0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8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Stack, Configuration &amp; Environment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1F497D"/>
                </a:solidFill>
                <a:latin typeface="Calibri"/>
              </a:rPr>
              <a:t>PyTorch</a:t>
            </a:r>
            <a:r>
              <a:rPr lang="en-US" sz="2000" dirty="0">
                <a:solidFill>
                  <a:srgbClr val="1F497D"/>
                </a:solidFill>
                <a:latin typeface="Calibri"/>
              </a:rPr>
              <a:t> 2.2 + PyTorch Lightning for training loops, checkpointing, mixed precision; timm for the Swin Transformer backbone.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rgbClr val="1F497D"/>
                </a:solidFill>
                <a:latin typeface="Calibri"/>
              </a:rPr>
              <a:t>FastAPI</a:t>
            </a:r>
            <a:r>
              <a:rPr lang="en-US" sz="2000" dirty="0">
                <a:solidFill>
                  <a:srgbClr val="1F497D"/>
                </a:solidFill>
                <a:latin typeface="Calibri"/>
              </a:rPr>
              <a:t> + uvicorn REST server (/classify, /restore, /health); Weights &amp; Biases for experiment tracking.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Classifier: ResNet-50, 50 epochs (early-stopped), batch 32, cross-entropy loss.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Encoder + Decoder: Swin-Tiny + FFT branch + UNet decoder, 150 epochs, batch 8, L1 + SSIM loss.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Trained end-to-end, self-supervised (MuralDH has no paired clean reference), fully on Kaggle's free 2xT4 GPU tier.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Implementation &amp; Training Setup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1970D203-763B-4F1D-BB43-FBE2FBC3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9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2046886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Validation Performance</a:t>
            </a: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Restored outputs on held-out MuralDH images are visually coherent, with plausible mural content filled into damaged regions.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API smoke test confirms both models load and serve correctly end-to-end.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Results</a:t>
              </a:r>
            </a:p>
          </p:txBody>
        </p:sp>
      </p:grpSp>
      <p:pic>
        <p:nvPicPr>
          <p:cNvPr id="25" name="Picture 24" descr="results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57" y="1803333"/>
            <a:ext cx="11336285" cy="4733397"/>
          </a:xfrm>
          <a:prstGeom prst="rect">
            <a:avLst/>
          </a:prstGeom>
        </p:spPr>
      </p:pic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32FEF23-D0A2-4F3A-A38C-DDEB7864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10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endParaRPr lang="en-US" sz="1867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Modular 3-stage pipeline — each component independently testable/ablatable.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Damage-type conditioning is a genuinely underexplored idea in mural restoration literature.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Dual-branch fusion captures both spatial structure and frequency-domain degradation cues.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End-to-end trained and deployed — a working, callable API, not just a paper design.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Resource-efficient: trained fully on free-tier Kaggle GPUs, no paid compute.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Merits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9C5C1C0E-D674-49FF-BFAD-9CAD265D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11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endParaRPr lang="en-US" sz="2000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Validation PSNR (24.36 dB) is below the MuralDH baseline target (&gt;28 dB) — Swin-Tiny fallback and disabled perceptual loss (T4 memory limits) cap fidelity.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Classifier accuracy (74.0%) leaves room for improvement — visually similar fade/crack cases are sometimes confused.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Self-supervised training (no paired clean ground truth) limits achievable sharpness.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Only PSNR is currently tracked — SSIM/LPIPS not yet computed.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Phase 2 components (ControlNet diffusion decoder, super-resolution head) not yet implemented.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Limitations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9783A4E4-694F-469F-BE98-8D32DD9E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12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12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400" b="1" dirty="0">
                <a:solidFill>
                  <a:srgbClr val="002060"/>
                </a:solidFill>
                <a:latin typeface="Calibri"/>
              </a:rPr>
              <a:t>DAFR-Net vs. Generic Inpainting vs. MuralDH Baseline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Comparison with Existing Work</a:t>
              </a:r>
            </a:p>
          </p:txBody>
        </p:sp>
      </p:grpSp>
      <p:pic>
        <p:nvPicPr>
          <p:cNvPr id="25" name="Picture 24" descr="comparison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01" y="943742"/>
            <a:ext cx="11964571" cy="4995734"/>
          </a:xfrm>
          <a:prstGeom prst="rect">
            <a:avLst/>
          </a:prstGeom>
        </p:spPr>
      </p:pic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37C5A170-8A19-464E-98C8-7FF5FE81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16221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13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Phase 1 delivers a fully working, trained, and API-served damage-aware restoration pipeline validated on MuralDH.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Phase 2 roadmap: ControlNet diffusion decoder, joint super-resolution head, frequency-guided loss, ablation study, full Swin-Base run.</a:t>
            </a: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497D"/>
                </a:solidFill>
                <a:latin typeface="Calibri"/>
              </a:rPr>
              <a:t>Immediate next step: scale to Swin-Base with checkpoint-resume across Kaggle's 12-hour session cap to close the PSNR gap to baseline.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Conclusion &amp; Future Work</a:t>
              </a:r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2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fld id="{CED57A38-FB26-40F6-9C7B-28193F32A889}" type="datetime1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16-07-2026</a:t>
            </a:fld>
            <a:endParaRPr lang="en-IN" dirty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14</a:t>
            </a:fld>
            <a:endParaRPr lang="en-IN" sz="1333" dirty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623392" y="1620024"/>
            <a:ext cx="11041227" cy="1250371"/>
            <a:chOff x="467544" y="1923678"/>
            <a:chExt cx="8280920" cy="937778"/>
          </a:xfrm>
        </p:grpSpPr>
        <p:cxnSp>
          <p:nvCxnSpPr>
            <p:cNvPr id="14" name="Straight Connector 13"/>
            <p:cNvCxnSpPr/>
            <p:nvPr/>
          </p:nvCxnSpPr>
          <p:spPr>
            <a:xfrm>
              <a:off x="467544" y="1923678"/>
              <a:ext cx="5184576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3707904" y="2499742"/>
              <a:ext cx="504056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095836" y="1923678"/>
              <a:ext cx="2952328" cy="5617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219170"/>
              <a:r>
                <a:rPr lang="en-IN" sz="4267" b="1" dirty="0">
                  <a:solidFill>
                    <a:srgbClr val="C00000"/>
                  </a:solidFill>
                  <a:latin typeface="Calibri"/>
                </a:rPr>
                <a:t>THANK YOU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700808" y="2515207"/>
              <a:ext cx="5742384" cy="3462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defTabSz="1219170"/>
              <a:endParaRPr lang="en-IN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E06C6D-1522-31CF-08BE-70DD8BE3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520259"/>
            <a:ext cx="3860800" cy="365125"/>
          </a:xfrm>
        </p:spPr>
        <p:txBody>
          <a:bodyPr/>
          <a:lstStyle/>
          <a:p>
            <a:r>
              <a:t>K Anirudh &amp; S Harish Siddharth (127162007)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83BF8-2BB6-2C3F-D9CF-8A959ABA8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40" y="-2753"/>
            <a:ext cx="3949700" cy="7856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84947" y="35951"/>
            <a:ext cx="2559725" cy="60874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2240" y="-2753"/>
            <a:ext cx="3949700" cy="78452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553201"/>
            <a:ext cx="12192000" cy="304799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lIns="103900" tIns="51951" rIns="103900" bIns="51951" rtlCol="0" anchor="ctr"/>
          <a:lstStyle/>
          <a:p>
            <a:pPr algn="ctr" defTabSz="1219170"/>
            <a:endParaRPr lang="en-IN" sz="2400">
              <a:solidFill>
                <a:srgbClr val="002060"/>
              </a:solidFill>
              <a:latin typeface="Calibri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23392" y="6531272"/>
            <a:ext cx="2844800" cy="365125"/>
          </a:xfrm>
        </p:spPr>
        <p:txBody>
          <a:bodyPr/>
          <a:lstStyle/>
          <a:p>
            <a:pPr defTabSz="1219170"/>
            <a:r>
              <a:rPr lang="en-IN" sz="1333" dirty="0">
                <a:solidFill>
                  <a:prstClr val="white"/>
                </a:solidFill>
                <a:latin typeface="Calibri"/>
              </a:rPr>
              <a:t>14-07-2026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84299" y="6523038"/>
            <a:ext cx="2844800" cy="365125"/>
          </a:xfrm>
        </p:spPr>
        <p:txBody>
          <a:bodyPr/>
          <a:lstStyle/>
          <a:p>
            <a:pPr defTabSz="1219170"/>
            <a:fld id="{2DF4D8A9-2A29-478B-937F-28DD9C983803}" type="slidenum">
              <a:rPr lang="en-IN" sz="1333">
                <a:solidFill>
                  <a:prstClr val="white"/>
                </a:solidFill>
                <a:latin typeface="Calibri"/>
              </a:rPr>
              <a:pPr defTabSz="1219170"/>
              <a:t>3</a:t>
            </a:fld>
            <a:endParaRPr lang="en-IN" sz="1333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2" name="ContentBox"/>
          <p:cNvSpPr/>
          <p:nvPr/>
        </p:nvSpPr>
        <p:spPr>
          <a:xfrm>
            <a:off x="703384" y="740702"/>
            <a:ext cx="10537813" cy="5700000"/>
          </a:xfrm>
          <a:prstGeom prst="rect">
            <a:avLst/>
          </a:prstGeom>
        </p:spPr>
        <p:txBody>
          <a:bodyPr wrap="square" lIns="103900" tIns="51951" rIns="103900" bIns="51951">
            <a:normAutofit/>
          </a:bodyPr>
          <a:lstStyle/>
          <a:p>
            <a:pPr defTabSz="1219170">
              <a:spcBef>
                <a:spcPts val="600"/>
              </a:spcBef>
            </a:pPr>
            <a:r>
              <a:rPr lang="en-US" sz="2000" b="1" dirty="0">
                <a:solidFill>
                  <a:srgbClr val="002060"/>
                </a:solidFill>
                <a:latin typeface="Calibri"/>
              </a:rPr>
              <a:t>Deng &amp; Yu (2023) — Structure-Guided Two-Branch (SGTB) Mural Inpainting, Heritage Science 11:131</a:t>
            </a:r>
          </a:p>
          <a:p>
            <a:pPr defTabSz="1219170">
              <a:spcBef>
                <a:spcPts val="600"/>
              </a:spcBef>
            </a:pPr>
            <a:endParaRPr lang="en-US" sz="1000" b="1" dirty="0">
              <a:solidFill>
                <a:srgbClr val="002060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1F497D"/>
                </a:solidFill>
                <a:latin typeface="Calibri"/>
              </a:rPr>
              <a:t>Two-stage GAN pipeline: a Structure Reconstruction Network (SRN) first predicts the missing structure map (via Canny edges), then a Content Restoration Network (CRN) restores texture and colour guided by that structure.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18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1F497D"/>
                </a:solidFill>
                <a:latin typeface="Calibri"/>
              </a:rPr>
              <a:t>SRN combines Gated Convolutions with Fast Fourier Convolution (FFC) residual blocks, splitting features into local (spatial) and global (spectral/FFT) branches to capture long-range structural context.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18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1F497D"/>
                </a:solidFill>
                <a:latin typeface="Calibri"/>
              </a:rPr>
              <a:t>CRN uses a two-branch parallel encoder plus a cascaded attention module (channel + spatial attention) to reduce the texture-blur and colour-bias seen in prior CNN/GAN inpainting methods.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18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1F497D"/>
                </a:solidFill>
                <a:latin typeface="Calibri"/>
              </a:rPr>
              <a:t>Trained on 3,466 curated ancient murals (augmented to 10,398); outperforms DS-Net, RFR, EdgeConnect and MISF on PSNR, SSIM and LPIPS across both simulated and real mural damage.</a:t>
            </a:r>
          </a:p>
          <a:p>
            <a:pPr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</a:pPr>
            <a:endParaRPr lang="en-US" sz="1800" dirty="0">
              <a:solidFill>
                <a:srgbClr val="1F497D"/>
              </a:solidFill>
              <a:latin typeface="Calibri"/>
            </a:endParaRPr>
          </a:p>
          <a:p>
            <a:pPr marL="380990" indent="-380990" algn="just" defTabSz="1219170" fontAlgn="base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1F497D"/>
                </a:solidFill>
                <a:latin typeface="Calibri"/>
              </a:rPr>
              <a:t>Relation to DAFR-Net: this is the foundational reference for frequency-guided, structure-aware mural restoration — DAFR-Net extends its FFC idea into a full learned FFT branch and adds explicit damage-type classification (crack/fade/missing) before restoration, which the base paper does not perform.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0" y="159216"/>
            <a:ext cx="12192000" cy="502766"/>
            <a:chOff x="0" y="119412"/>
            <a:chExt cx="9144000" cy="377074"/>
          </a:xfrm>
        </p:grpSpPr>
        <p:sp>
          <p:nvSpPr>
            <p:cNvPr id="24" name="SlideTitle"/>
            <p:cNvSpPr txBox="1"/>
            <p:nvPr/>
          </p:nvSpPr>
          <p:spPr>
            <a:xfrm>
              <a:off x="687564" y="119412"/>
              <a:ext cx="8500000" cy="3770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19170"/>
              <a:r>
                <a:rPr lang="en-IN" sz="2667" b="1" dirty="0">
                  <a:solidFill>
                    <a:srgbClr val="C00000"/>
                  </a:solidFill>
                  <a:latin typeface="Calibri"/>
                </a:rPr>
                <a:t>Base Paper</a:t>
              </a:r>
            </a:p>
          </p:txBody>
        </p:sp>
      </p:grp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A9A786D4-D227-4E6A-AEBA-5CF96AFB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87686" y="6523037"/>
            <a:ext cx="5191464" cy="365125"/>
          </a:xfrm>
        </p:spPr>
        <p:txBody>
          <a:bodyPr/>
          <a:lstStyle/>
          <a:p>
            <a:r>
              <a:rPr dirty="0"/>
              <a:t>K Anirudh</a:t>
            </a:r>
            <a:r>
              <a:rPr lang="en-US" dirty="0"/>
              <a:t> (127162001)</a:t>
            </a:r>
            <a:r>
              <a:rPr dirty="0"/>
              <a:t> &amp; S Harish Siddharth (127162007)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90376</TotalTime>
  <Words>991</Words>
  <Application>Microsoft Office PowerPoint</Application>
  <PresentationFormat>Widescreen</PresentationFormat>
  <Paragraphs>154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1_Office Theme</vt:lpstr>
      <vt:lpstr>    DAFR-Net: A Damage-Aware Frequency-Guided Dual-Branch Network for Ancient Mural Restoration Summer Research Project 2024–25 –  Phase 1: Core Restoration Pipeline — Trained &amp; Deployed Department of Computer Science and Engineering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Title CSE608-Image Processing and Analysis  Project based assessment VIVA-VOCE Progressive Doctoral Committee </dc:title>
  <dc:creator>Hariharan P</dc:creator>
  <cp:lastModifiedBy>Harish Siddharth Sriram</cp:lastModifiedBy>
  <cp:revision>182</cp:revision>
  <dcterms:created xsi:type="dcterms:W3CDTF">2025-02-22T04:34:13Z</dcterms:created>
  <dcterms:modified xsi:type="dcterms:W3CDTF">2026-07-16T05:34:48Z</dcterms:modified>
</cp:coreProperties>
</file>